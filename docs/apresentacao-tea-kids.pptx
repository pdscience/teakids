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617720"/>
            <a:ext cx="12191695" cy="146304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400" b="1">
                <a:solidFill>
                  <a:srgbClr val="FFFFFF"/>
                </a:solidFill>
                <a:latin typeface="Segoe UI"/>
              </a:rPr>
              <a:t>TEA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743200"/>
            <a:ext cx="100584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4D94FF"/>
                </a:solidFill>
                <a:latin typeface="Segoe UI"/>
              </a:rPr>
              <a:t>Comunicação assistida para crianças no espectro autista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5204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C5D2E6"/>
                </a:solidFill>
                <a:latin typeface="Segoe UI"/>
              </a:rPr>
              <a:t>Um mundo mais azul, um mundo com mais inclusão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834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AC2"/>
                </a:solidFill>
                <a:latin typeface="Segoe UI"/>
              </a:rPr>
              <a:t>Apresentação institucional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3492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AC2"/>
                </a:solidFill>
                <a:latin typeface="Segoe UI"/>
              </a:rPr>
              <a:t>Aplicativo web instalável  |  Versão Android  |  Português, Inglês e Espanhol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O desafio de concluir uma mensagem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Por que a comunicação da criança trava a rotina inteira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603504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>
                <a:solidFill>
                  <a:srgbClr val="222B3A"/>
                </a:solidFill>
                <a:latin typeface="Segoe UI"/>
              </a:rPr>
              <a:t>•  Comunicar uma necessidade é difícil — e isso trava tudo o que vem depois: comida, sono, dor e transição de atividade.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>
                <a:solidFill>
                  <a:srgbClr val="222B3A"/>
                </a:solidFill>
                <a:latin typeface="Segoe UI"/>
              </a:rPr>
              <a:t>•  Frases prontas ajudam, mas não cobrem todas as situações reais do dia a dia.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>
                <a:solidFill>
                  <a:srgbClr val="222B3A"/>
                </a:solidFill>
                <a:latin typeface="Segoe UI"/>
              </a:rPr>
              <a:t>•  Rotina sem visualização gera ansiedade, resistência e atrasos.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50">
                <a:solidFill>
                  <a:srgbClr val="222B3A"/>
                </a:solidFill>
                <a:latin typeface="Segoe UI"/>
              </a:rPr>
              <a:t>•  Família e equipe de acompanhamento precisam enxergar o progresso, não apenas o esforço.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06640" y="1920240"/>
            <a:ext cx="3931920" cy="274320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Sem uma ferramenta que reúna comunicação, rotina e registro, cada dia vira improviso.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A proposta: um app, cinco experiências curtas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Cada área foi desenhada para durar poucos minutos e funcionar com toques simples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2057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30552"/>
            <a:ext cx="1655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4D94FF"/>
                </a:solidFill>
                <a:latin typeface="Segoe UI"/>
              </a:rPr>
              <a:t>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9192"/>
            <a:ext cx="1655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Conversar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44952"/>
            <a:ext cx="16550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Toca no cartão e a frase é falada em voz alta.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971800" y="1965960"/>
            <a:ext cx="2057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172968" y="2130552"/>
            <a:ext cx="1655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4D94FF"/>
                </a:solidFill>
                <a:latin typeface="Segoe UI"/>
              </a:rPr>
              <a:t>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72968" y="2679192"/>
            <a:ext cx="1655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Montar frase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72968" y="3044952"/>
            <a:ext cx="16550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Combina palavras quando a frase ainda não existe.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03520" y="1965960"/>
            <a:ext cx="2057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04688" y="2130552"/>
            <a:ext cx="1655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4D94FF"/>
                </a:solidFill>
                <a:latin typeface="Segoe UI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504688" y="2679192"/>
            <a:ext cx="1655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Rotinas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04688" y="3044952"/>
            <a:ext cx="16550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Checklist visual de manhã, tarde e noite.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635240" y="1965960"/>
            <a:ext cx="2057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36408" y="2130552"/>
            <a:ext cx="1655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4D94FF"/>
                </a:solidFill>
                <a:latin typeface="Segoe UI"/>
              </a:rPr>
              <a:t>✏️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36408" y="2679192"/>
            <a:ext cx="1655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Escrever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36408" y="3044952"/>
            <a:ext cx="16550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Digita e ouve; explora o alfabeto.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966960" y="1965960"/>
            <a:ext cx="2057400" cy="24231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168128" y="2130552"/>
            <a:ext cx="16550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4D94FF"/>
                </a:solidFill>
                <a:latin typeface="Segoe UI"/>
              </a:rPr>
              <a:t>🎮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68128" y="2679192"/>
            <a:ext cx="16550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Interação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68128" y="3044952"/>
            <a:ext cx="1655064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Aprende com Quiz: formas, cores, animais e mais.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40080" y="4800600"/>
            <a:ext cx="10881360" cy="868680"/>
          </a:xfrm>
          <a:prstGeom prst="roundRect">
            <a:avLst>
              <a:gd name="adj" fmla="val 12000"/>
            </a:avLst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A criança usa sozinha: tocar, ouvir, marcar. O adulto acompanha por uma área separada.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Como a criança usa — 5 a 10 minutos por sessão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Uma rotina simples, previsível e do tamanho da atenção da criança</a:t>
            </a:r>
          </a:p>
        </p:txBody>
      </p:sp>
      <p:sp>
        <p:nvSpPr>
          <p:cNvPr id="6" name="Oval 5"/>
          <p:cNvSpPr/>
          <p:nvPr/>
        </p:nvSpPr>
        <p:spPr>
          <a:xfrm>
            <a:off x="640080" y="2103120"/>
            <a:ext cx="548640" cy="548640"/>
          </a:xfrm>
          <a:prstGeom prst="ellipse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889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Abrir o app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154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Vê as estrelas conquistadas no dia.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35808" y="217627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D94FF"/>
                </a:solidFill>
                <a:latin typeface="Segoe UI"/>
              </a:rP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429000" y="2103120"/>
            <a:ext cx="548640" cy="548640"/>
          </a:xfrm>
          <a:prstGeom prst="ellipse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889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Conversar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3154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Pede, agradece, comenta.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4728" y="217627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D94FF"/>
                </a:solidFill>
                <a:latin typeface="Segoe UI"/>
              </a:rPr>
              <a:t>→</a:t>
            </a:r>
          </a:p>
        </p:txBody>
      </p:sp>
      <p:sp>
        <p:nvSpPr>
          <p:cNvPr id="14" name="Oval 13"/>
          <p:cNvSpPr/>
          <p:nvPr/>
        </p:nvSpPr>
        <p:spPr>
          <a:xfrm>
            <a:off x="6217920" y="2103120"/>
            <a:ext cx="548640" cy="548640"/>
          </a:xfrm>
          <a:prstGeom prst="ellipse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7889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Marcar a rotina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3154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Toca no que já fez.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13648" y="2176272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4D94FF"/>
                </a:solidFill>
                <a:latin typeface="Segoe UI"/>
              </a:rPr>
              <a:t>→</a:t>
            </a:r>
          </a:p>
        </p:txBody>
      </p:sp>
      <p:sp>
        <p:nvSpPr>
          <p:cNvPr id="18" name="Oval 17"/>
          <p:cNvSpPr/>
          <p:nvPr/>
        </p:nvSpPr>
        <p:spPr>
          <a:xfrm>
            <a:off x="9006839" y="2103120"/>
            <a:ext cx="548640" cy="548640"/>
          </a:xfrm>
          <a:prstGeom prst="ellipse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20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06839" y="2788920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Brincar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06839" y="3154680"/>
            <a:ext cx="23774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Quiz de formas, cores e palavras.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434840"/>
            <a:ext cx="10881360" cy="96012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A área dos responsáveis fica atrás de uma confirmação simples para adultos — a criança navega sozinha.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Conversar — o momento mais importante do dia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Comunicar uma necessidade em segundos, sem depender de interlocutor disponível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6 categorias prontas: saudações, necessidades, saúde, atividades, família e locais.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Um toque = a frase é falada em voz alta, no idioma escolhido.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Favoritos e Recentes deixam as frases mais usadas sempre à mão.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Montar frase: quando não existe frase pronta, a criança combina as palavras e ouve.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9202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2084832"/>
            <a:ext cx="37124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D94FF"/>
                </a:solidFill>
                <a:latin typeface="Segoe UI"/>
              </a:rPr>
              <a:t>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63347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Benefício para a família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8" y="2999232"/>
            <a:ext cx="37124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678"/>
                </a:solidFill>
                <a:latin typeface="Segoe UI"/>
              </a:rPr>
              <a:t>Menos frustração e menos espera: a criança pede o que precisa na hora em que precisa.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4348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4D94FF"/>
                </a:solidFill>
                <a:latin typeface="Segoe UI"/>
              </a:rPr>
              <a:t>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09320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categorias de</a:t>
            </a:r>
            <a:br/>
            <a:r>
              <a:rPr sz="1250" b="0">
                <a:solidFill>
                  <a:srgbClr val="5A6678"/>
                </a:solidFill>
                <a:latin typeface="Segoe UI"/>
              </a:rPr>
              <a:t>comunicação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4348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4D94FF"/>
                </a:solidFill>
                <a:latin typeface="Segoe UI"/>
              </a:rPr>
              <a:t>1 toque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509320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e a app</a:t>
            </a:r>
            <a:br/>
            <a:r>
              <a:rPr sz="1250" b="0">
                <a:solidFill>
                  <a:srgbClr val="5A6678"/>
                </a:solidFill>
                <a:latin typeface="Segoe UI"/>
              </a:rPr>
              <a:t>fala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Rotinas — previsibilidade que a criança entende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A rotina deixa de ser cobrança e vira um checklist visual que ela acompanha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8521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Três períodos — Manhã, Tarde e Noite — com 23 atividades já prontas.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Marca com um toque; o progresso fica visível na tela e salvo no aparelho.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Comemoração (som e mensagem) quando o período inteiro é concluído.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O responsável pode acrescentar atividades da casa, sem alterar as padrão.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223760" y="1920240"/>
            <a:ext cx="4114800" cy="2286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24928" y="2084832"/>
            <a:ext cx="37124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D94FF"/>
                </a:solidFill>
                <a:latin typeface="Segoe UI"/>
              </a:rPr>
              <a:t>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24928" y="2633472"/>
            <a:ext cx="37124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Benefício para o gestor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24928" y="2999232"/>
            <a:ext cx="3712464" cy="1051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678"/>
                </a:solidFill>
                <a:latin typeface="Segoe UI"/>
              </a:rPr>
              <a:t>Cada item concluído é um registro objetivo de adesão à rotina — dia a dia e por período.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23760" y="44348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4D94FF"/>
                </a:solidFill>
                <a:latin typeface="Segoe UI"/>
              </a:rPr>
              <a:t>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3760" y="509320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atividades</a:t>
            </a:r>
            <a:br/>
            <a:r>
              <a:rPr sz="1250" b="0">
                <a:solidFill>
                  <a:srgbClr val="5A6678"/>
                </a:solidFill>
                <a:latin typeface="Segoe UI"/>
              </a:rPr>
              <a:t>padrão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4434840"/>
            <a:ext cx="201168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4D94FF"/>
                </a:solidFill>
                <a:latin typeface="Segoe U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5093208"/>
            <a:ext cx="2011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períodos</a:t>
            </a:r>
            <a:br/>
            <a:r>
              <a:rPr sz="1250" b="0">
                <a:solidFill>
                  <a:srgbClr val="5A6678"/>
                </a:solidFill>
                <a:latin typeface="Segoe UI"/>
              </a:rPr>
              <a:t>por dia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Escrever e Interação — aprender brincando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Alfabetização e vocabulário dentro do mesmo aplicativo, sem material extra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30552"/>
            <a:ext cx="49469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4D94FF"/>
                </a:solidFill>
                <a:latin typeface="Segoe UI"/>
              </a:rPr>
              <a:t>✏️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9192"/>
            <a:ext cx="4946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1B33"/>
                </a:solidFill>
                <a:latin typeface="Segoe UI"/>
              </a:rPr>
              <a:t>Escrever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44952"/>
            <a:ext cx="4946904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678"/>
                </a:solidFill>
                <a:latin typeface="Segoe UI"/>
              </a:rPr>
              <a:t>Campo de texto que fala o que foi digitado e um alfabeto de 26 letras, cada uma com palavra de exemplo e emoji pronunciados ao toque.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965960"/>
            <a:ext cx="534924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2130552"/>
            <a:ext cx="494690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0">
                <a:solidFill>
                  <a:srgbClr val="4D94FF"/>
                </a:solidFill>
                <a:latin typeface="Segoe UI"/>
              </a:rPr>
              <a:t>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2679192"/>
            <a:ext cx="494690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0E1B33"/>
                </a:solidFill>
                <a:latin typeface="Segoe UI"/>
              </a:rPr>
              <a:t>Interação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044952"/>
            <a:ext cx="4946904" cy="1783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400" b="0">
                <a:solidFill>
                  <a:srgbClr val="5A6678"/>
                </a:solidFill>
                <a:latin typeface="Segoe UI"/>
              </a:rPr>
              <a:t>8 categorias (formas, cores, animais, frutas, alimentos, números, legumes e casa) com 183 itens e um modo Quiz com feedback imediato.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57800"/>
            <a:ext cx="10972800" cy="777240"/>
          </a:xfrm>
          <a:prstGeom prst="roundRect">
            <a:avLst>
              <a:gd name="adj" fmla="val 12000"/>
            </a:avLst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650" b="1">
                <a:solidFill>
                  <a:srgbClr val="FFFFFF"/>
                </a:solidFill>
                <a:latin typeface="Segoe UI"/>
              </a:rPr>
              <a:t>Reforço de vocabulário e alfabetização sem imprimir, recortar nem preparar material.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Área dos responsáveis — controle do adulto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Tudo o que o adulto precisa, separado da experiência da criança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65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130552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26791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Idioma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04495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Português, Inglês ou Espanhol — troca imediata e salva.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43400" y="1965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130552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6791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Voz e acessibilidade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4568" y="304495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Velocidade, tom, texto maior, alto contraste, menos animações.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19" y="1965960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7" y="2130552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7" y="2679192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Histórico (7 dias)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7" y="3044952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Uso por período e por módulo, com contadores.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3749039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248" y="3913631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248" y="4462271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Cartões personalizados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" y="4828031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Frases da família, com emoji e cor.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43400" y="3749039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44568" y="3913631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📅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44568" y="4462271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Rotinas personalizadas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44568" y="4828031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Atividades da casa por período.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3749039"/>
            <a:ext cx="3474720" cy="15544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47887" y="3913631"/>
            <a:ext cx="307238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47887" y="4462271"/>
            <a:ext cx="307238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Dados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47887" y="4828031"/>
            <a:ext cx="3072384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150" b="0">
                <a:solidFill>
                  <a:srgbClr val="5A6678"/>
                </a:solidFill>
                <a:latin typeface="Segoe UI"/>
              </a:rPr>
              <a:t>Backup e apagamento seguro com confirmação.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Um app que acompanha a criança e a família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Multilíngue de verdade, com voz e acessibilidade já embutidas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Interface e todo o conteúdo nativo em Português, Inglês e Espanhol.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A voz lê sempre no idioma escolhido; se o aparelho não tiver essa voz, o app usa a mais próxima e avisa — sem travar.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Acessibilidade: texto ampliado, alto contraste, redução de animações e controle da voz.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Funciona sem internet após o primeiro carregamento e pode ser instalado na tela inicial.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57400"/>
            <a:ext cx="4023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400" b="1">
                <a:solidFill>
                  <a:srgbClr val="4D94FF"/>
                </a:solidFill>
                <a:latin typeface="Segoe UI"/>
              </a:rPr>
              <a:t>3 idiomas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715768"/>
            <a:ext cx="402336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50" b="0">
                <a:solidFill>
                  <a:srgbClr val="5A6678"/>
                </a:solidFill>
                <a:latin typeface="Segoe UI"/>
              </a:rPr>
              <a:t>mesma experiência</a:t>
            </a:r>
            <a:br/>
            <a:r>
              <a:rPr sz="1250" b="0">
                <a:solidFill>
                  <a:srgbClr val="5A6678"/>
                </a:solidFill>
                <a:latin typeface="Segoe UI"/>
              </a:rPr>
              <a:t>em cada tela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3337560"/>
            <a:ext cx="4023360" cy="16916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16368" y="3502152"/>
            <a:ext cx="3621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16368" y="4050792"/>
            <a:ext cx="362102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E1B33"/>
                </a:solidFill>
                <a:latin typeface="Segoe UI"/>
              </a:rPr>
              <a:t>Continuidade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16368" y="4416552"/>
            <a:ext cx="362102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00" b="0">
                <a:solidFill>
                  <a:srgbClr val="5A6678"/>
                </a:solidFill>
                <a:latin typeface="Segoe UI"/>
              </a:rPr>
              <a:t>Sem internet no dia a dia: o app continua funcionando no aparelho.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Privacidade — os dados ficam com a família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Sem servidor, sem compartilhamento, sem dependência de terceiros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920240"/>
            <a:ext cx="59436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Progresso, favoritos, ajustes e personalizações são gravados no próprio aparelho.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Nenhuma informação da criança é enviada para servidores ou terceiros.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Backup simples (baixar ou copiar) para guarda e transferência de aparelho.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600">
                <a:solidFill>
                  <a:srgbClr val="222B3A"/>
                </a:solidFill>
                <a:latin typeface="Segoe UI"/>
              </a:rPr>
              <a:t>•  Apagar todos os dados, a qualquer momento, com confirmação explícita.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2011680"/>
            <a:ext cx="4023360" cy="2926080"/>
          </a:xfrm>
          <a:prstGeom prst="roundRect">
            <a:avLst>
              <a:gd name="adj" fmla="val 12000"/>
            </a:avLst>
          </a:prstGeom>
          <a:solidFill>
            <a:srgbClr val="0E1B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700" b="1">
                <a:solidFill>
                  <a:srgbClr val="FFFFFF"/>
                </a:solidFill>
                <a:latin typeface="Segoe UI"/>
              </a:rPr>
              <a:t>Em educação e na prática: o app não é mais um cadastro online — é uma ferramenta local, sob controle da família.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566928"/>
            <a:ext cx="109728" cy="566928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502920"/>
            <a:ext cx="1060704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0E1B33"/>
                </a:solidFill>
                <a:latin typeface="Segoe UI"/>
              </a:rPr>
              <a:t>O que o gestor ganha com o TEA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170432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5A6678"/>
                </a:solidFill>
                <a:latin typeface="Segoe UI"/>
              </a:rPr>
              <a:t>Decisão com base em evidência, não em impressão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19"/>
            <a:ext cx="5760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222B3A"/>
                </a:solidFill>
                <a:latin typeface="Segoe UI"/>
              </a:rPr>
              <a:t>•  Visão de adesão: rotina concluída por período nos últimos 7 dias.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222B3A"/>
                </a:solidFill>
                <a:latin typeface="Segoe UI"/>
              </a:rPr>
              <a:t>•  Visão de engajamento: quais módulos a criança realmente usa.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222B3A"/>
                </a:solidFill>
                <a:latin typeface="Segoe UI"/>
              </a:rPr>
              <a:t>•  Conquistas diárias (estrelas) como linguagem simples de evolução.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222B3A"/>
                </a:solidFill>
                <a:latin typeface="Segoe UI"/>
              </a:rPr>
              <a:t>•  Menos tempo de preparo: conteúdo, rotina e material já vêm prontos.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sz="1550">
                <a:solidFill>
                  <a:srgbClr val="222B3A"/>
                </a:solidFill>
                <a:latin typeface="Segoe UI"/>
              </a:rPr>
              <a:t>•  Personalização por família sem material impresso.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949440" y="1874519"/>
            <a:ext cx="4572000" cy="2148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CE4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50608" y="2039111"/>
            <a:ext cx="4169664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4D94FF"/>
                </a:solidFill>
                <a:latin typeface="Segoe UI"/>
              </a:rPr>
              <a:t>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50608" y="2587751"/>
            <a:ext cx="4169664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E1B33"/>
                </a:solidFill>
                <a:latin typeface="Segoe UI"/>
              </a:rPr>
              <a:t>Próximos passos sugeridos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50608" y="2953511"/>
            <a:ext cx="4169664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A6678"/>
                </a:solidFill>
                <a:latin typeface="Segoe UI"/>
              </a:rPr>
              <a:t>Relatórios exportáveis para a escola, metas por criança e acompanhamento compartilhado entre profissionais.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949440" y="4206240"/>
            <a:ext cx="4572000" cy="1143000"/>
          </a:xfrm>
          <a:prstGeom prst="roundRect">
            <a:avLst>
              <a:gd name="adj" fmla="val 12000"/>
            </a:avLst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rIns="256032"/>
          <a:lstStyle/>
          <a:p>
            <a:pPr algn="ctr">
              <a:lnSpc>
                <a:spcPct val="115000"/>
              </a:lnSpc>
            </a:pPr>
            <a:r>
              <a:rPr sz="1400" b="1">
                <a:solidFill>
                  <a:srgbClr val="FFFFFF"/>
                </a:solidFill>
                <a:latin typeface="Segoe UI"/>
              </a:rPr>
              <a:t>Roteiro de implantação sugerido: 1 familiar treina o app; 2 semanas de uso; 1 reunião de leitura dos indicadores.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355080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TEA Kids  |  Comunicação assistida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7040" y="6355080"/>
            <a:ext cx="914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5A6678"/>
                </a:solidFill>
                <a:latin typeface="Segoe U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343400"/>
            <a:ext cx="12191695" cy="128016"/>
          </a:xfrm>
          <a:prstGeom prst="rect">
            <a:avLst/>
          </a:prstGeom>
          <a:solidFill>
            <a:srgbClr val="4D94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Segoe UI"/>
              </a:rPr>
              <a:t>TEA Kids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4D94FF"/>
                </a:solidFill>
                <a:latin typeface="Segoe UI"/>
              </a:rPr>
              <a:t>Um mundo mais azul, um mundo com mais inclusão 💙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9184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C5D2E6"/>
                </a:solidFill>
                <a:latin typeface="Segoe UI"/>
              </a:rPr>
              <a:t>Próximo passo: demonstração prática com uma família e uma semana de uso acompanhada.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7091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AC2"/>
                </a:solidFill>
                <a:latin typeface="Segoe UI"/>
              </a:rPr>
              <a:t>Disponível como aplicativo web instalável e em versão Android.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